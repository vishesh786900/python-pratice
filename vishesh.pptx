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2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3"/>
          <p:cNvSpPr txBox="1"/>
          <p:nvPr/>
        </p:nvSpPr>
        <p:spPr>
          <a:xfrm>
            <a:off x="411480" y="654380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201168"/>
            <a:ext cx="8686800" cy="6263640"/>
          </a:xfrm>
          <a:prstGeom prst="rect">
            <a:avLst/>
          </a:prstGeom>
          <a:noFill/>
          <a:ln w="15240">
            <a:solidFill>
              <a:srgbClr val="96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latin typeface="Aptos"/>
              </a:rPr>
              <a:t>Experiential Learning</a:t>
            </a:r>
            <a:endParaRPr sz="2600" b="1">
              <a:latin typeface="Aptos"/>
            </a:endParaRPr>
          </a:p>
          <a:p>
            <a:pPr algn="ctr"/>
            <a:r>
              <a:rPr sz="2600" b="1">
                <a:latin typeface="Aptos"/>
              </a:rPr>
              <a:t>Project Assessment-I</a:t>
            </a:r>
            <a:endParaRPr sz="2600" b="1"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0" y="1389888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latin typeface="Aptos"/>
              </a:rPr>
              <a:t>on</a:t>
            </a:r>
            <a:endParaRPr sz="1800" b="1"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645920" y="1783080"/>
            <a:ext cx="5852160" cy="658368"/>
          </a:xfrm>
          <a:prstGeom prst="roundRect">
            <a:avLst/>
          </a:prstGeom>
          <a:solidFill>
            <a:srgbClr val="FAFA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828800"/>
            <a:ext cx="5669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latin typeface="Aptos"/>
              </a:rPr>
              <a:t>“Inventory Stock Analysis System”</a:t>
            </a:r>
            <a:endParaRPr sz="2100" b="1"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45920" y="2606040"/>
            <a:ext cx="58521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03CB4"/>
                </a:solidFill>
                <a:latin typeface="Aptos"/>
              </a:rPr>
              <a:t>under the course</a:t>
            </a:r>
            <a:endParaRPr sz="1700" b="1">
              <a:solidFill>
                <a:srgbClr val="003CB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2944368"/>
            <a:ext cx="71323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003CB4"/>
                </a:solidFill>
                <a:latin typeface="Aptos"/>
              </a:rPr>
              <a:t>Python Programming Language (N-PCCCM304P)</a:t>
            </a:r>
            <a:endParaRPr sz="1900" b="1">
              <a:solidFill>
                <a:srgbClr val="003CB4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3675887"/>
            <a:ext cx="27432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latin typeface="Aptos"/>
              </a:rPr>
              <a:t>Presented By</a:t>
            </a:r>
            <a:endParaRPr sz="1500" b="1">
              <a:latin typeface="Aptos"/>
            </a:endParaRPr>
          </a:p>
          <a:p>
            <a:pPr algn="l"/>
            <a:r>
              <a:rPr sz="1500" b="1">
                <a:latin typeface="Aptos"/>
              </a:rPr>
              <a:t>Vishesh Shrikhande</a:t>
            </a:r>
            <a:endParaRPr sz="1500" b="1"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32120" y="3675887"/>
            <a:ext cx="27432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latin typeface="Aptos"/>
              </a:rPr>
              <a:t>Under the Guidance</a:t>
            </a:r>
            <a:endParaRPr sz="1400" b="1">
              <a:latin typeface="Aptos"/>
            </a:endParaRPr>
          </a:p>
          <a:p>
            <a:pPr algn="r"/>
            <a:r>
              <a:rPr sz="1400" b="1">
                <a:latin typeface="Aptos"/>
              </a:rPr>
              <a:t>of</a:t>
            </a:r>
            <a:endParaRPr sz="1400" b="1">
              <a:latin typeface="Aptos"/>
            </a:endParaRPr>
          </a:p>
          <a:p>
            <a:pPr algn="r"/>
            <a:r>
              <a:rPr sz="1400" b="1">
                <a:latin typeface="Aptos"/>
              </a:rPr>
              <a:t>Mrs. Mayuri Getme</a:t>
            </a:r>
            <a:endParaRPr sz="1400" b="1"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31720" y="4754880"/>
            <a:ext cx="44805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latin typeface="Aptos"/>
              </a:rPr>
              <a:t>Session: 2026-27 (ODD)</a:t>
            </a:r>
            <a:endParaRPr sz="1400" b="1">
              <a:latin typeface="Aptos"/>
            </a:endParaRPr>
          </a:p>
          <a:p>
            <a:pPr algn="ctr"/>
            <a:r>
              <a:rPr sz="1400" b="1">
                <a:latin typeface="Aptos"/>
              </a:rPr>
              <a:t>Department of CSE (AI&amp;ML)</a:t>
            </a:r>
            <a:endParaRPr sz="1400" b="1"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7315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latin typeface="Aptos"/>
              </a:rPr>
              <a:t>S. B. Jain Institute of Technology Management and Research, Nagpur</a:t>
            </a:r>
            <a:endParaRPr sz="1200" b="1">
              <a:latin typeface="Aptos"/>
            </a:endParaRPr>
          </a:p>
          <a:p>
            <a:pPr algn="ctr"/>
            <a:r>
              <a:rPr sz="1200" b="1">
                <a:latin typeface="Aptos"/>
              </a:rPr>
              <a:t>An Autonomous Institute, Affiliated to RTMNU, Nagpur</a:t>
            </a:r>
            <a:endParaRPr sz="1200" b="1">
              <a:latin typeface="Aptos"/>
            </a:endParaRPr>
          </a:p>
        </p:txBody>
      </p:sp>
      <p:pic>
        <p:nvPicPr>
          <p:cNvPr id="18" name="Picture 17" descr="logo_full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3632" y="3639312"/>
            <a:ext cx="132588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7863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Arial" panose="020B0604020202020204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70432"/>
            <a:ext cx="7955279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53312"/>
            <a:ext cx="7223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89AFB0"/>
                </a:solidFill>
                <a:latin typeface="Arial" panose="020B0604020202020204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583817"/>
            <a:ext cx="7269480" cy="13220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232323"/>
                </a:solidFill>
                <a:latin typeface="Arial" panose="020B0604020202020204"/>
              </a:defRPr>
            </a:pPr>
            <a:r>
              <a:rPr sz="2000"/>
              <a:t>Develop an inventory management system using arrays to track stock levels, sales, restocking alerts, and item-wise summaries.</a:t>
            </a:r>
            <a:endParaRPr sz="2000">
              <a:sym typeface="+mn-ea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401568"/>
            <a:ext cx="2331720" cy="1325880"/>
          </a:xfrm>
          <a:prstGeom prst="roundRect">
            <a:avLst/>
          </a:prstGeom>
          <a:solidFill>
            <a:srgbClr val="F2F7F7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4990" y="3670300"/>
            <a:ext cx="141097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89AFB0"/>
                </a:solidFill>
                <a:latin typeface="Consolas" panose="020B0609020204030204"/>
              </a:defRPr>
            </a:pPr>
            <a:r>
              <a:rPr sz="2000"/>
              <a:t>STOCK</a:t>
            </a:r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1460500" y="3574733"/>
            <a:ext cx="843915" cy="4451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5F5F5F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633470"/>
            <a:ext cx="160020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89AFB0"/>
                </a:solidFill>
                <a:latin typeface="Consolas" panose="020B0609020204030204"/>
              </a:defRPr>
            </a:pPr>
            <a:r>
              <a:rPr sz="2000"/>
              <a:t>LEVELS</a:t>
            </a:r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868680" y="4170045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32323"/>
                </a:solidFill>
                <a:latin typeface="Arial" panose="020B0604020202020204"/>
              </a:defRPr>
            </a:pPr>
            <a:r>
              <a:t>Track current inventory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39" y="3401568"/>
            <a:ext cx="2331720" cy="1325880"/>
          </a:xfrm>
          <a:prstGeom prst="roundRect">
            <a:avLst/>
          </a:prstGeom>
          <a:solidFill>
            <a:srgbClr val="F2F7F7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82950" y="3594735"/>
            <a:ext cx="886460" cy="60388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3000" b="1">
                <a:solidFill>
                  <a:srgbClr val="89AFB0"/>
                </a:solidFill>
                <a:latin typeface="Consolas" panose="020B0609020204030204"/>
              </a:defRPr>
            </a:pPr>
            <a:r>
              <a:rPr sz="2000"/>
              <a:t>SALES</a:t>
            </a:r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4104767" y="3589909"/>
            <a:ext cx="3840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5F5F5F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670046"/>
            <a:ext cx="96012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89AFB0"/>
                </a:solidFill>
                <a:latin typeface="Consolas" panose="020B0609020204030204"/>
              </a:defRPr>
            </a:pPr>
            <a:r>
              <a:rPr sz="2000"/>
              <a:t>ITEMS</a:t>
            </a:r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3428999" y="4160520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32323"/>
                </a:solidFill>
                <a:latin typeface="Arial" panose="020B0604020202020204"/>
              </a:defRPr>
            </a:pPr>
            <a:r>
              <a:t>Record quantities sold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59" y="3401568"/>
            <a:ext cx="2331720" cy="1325880"/>
          </a:xfrm>
          <a:prstGeom prst="roundRect">
            <a:avLst/>
          </a:prstGeom>
          <a:solidFill>
            <a:srgbClr val="F2F7F7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3885" y="3604578"/>
            <a:ext cx="111252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89AFB0"/>
                </a:solidFill>
                <a:latin typeface="Consolas" panose="020B0609020204030204"/>
              </a:defRPr>
            </a:pPr>
            <a:r>
              <a:rPr sz="2000"/>
              <a:t>ALERT</a:t>
            </a:r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565392" y="3529584"/>
            <a:ext cx="3840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5F5F5F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586163"/>
            <a:ext cx="1250315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89AFB0"/>
                </a:solidFill>
                <a:latin typeface="Consolas" panose="020B0609020204030204"/>
              </a:defRPr>
            </a:pPr>
            <a:r>
              <a:rPr sz="2000"/>
              <a:t>REORDER</a:t>
            </a:r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5989320" y="4160520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32323"/>
                </a:solidFill>
                <a:latin typeface="Arial" panose="020B0604020202020204"/>
              </a:defRPr>
            </a:pPr>
            <a:r>
              <a:t>Identify low-stock items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047488"/>
            <a:ext cx="7543800" cy="822960"/>
          </a:xfrm>
          <a:prstGeom prst="roundRect">
            <a:avLst/>
          </a:prstGeom>
          <a:solidFill>
            <a:srgbClr val="ECF4F4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7178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232323"/>
                </a:solidFill>
                <a:latin typeface="Arial" panose="020B0604020202020204"/>
              </a:defRPr>
            </a:pPr>
            <a:r>
              <a:t>Arrays + loops + conditions  •  stock control  •  clear item-wise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7863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Arial" panose="020B0604020202020204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36118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4416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9AFB0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29844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Arial" panose="020B0604020202020204"/>
              </a:defRPr>
            </a:pPr>
            <a:r>
              <a:t>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664208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5F5F5F"/>
                </a:solidFill>
                <a:latin typeface="Arial" panose="020B0604020202020204"/>
              </a:defRPr>
            </a:pPr>
            <a:r>
              <a:t>Maintain stock levels for each item.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36118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34416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9AFB0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79" y="129844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Arial" panose="020B0604020202020204"/>
              </a:defRPr>
            </a:pPr>
            <a:r>
              <a:t>SELL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79" y="1664208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5F5F5F"/>
                </a:solidFill>
                <a:latin typeface="Arial" panose="020B0604020202020204"/>
              </a:defRPr>
            </a:pPr>
            <a:r>
              <a:t>Reduce stock and record sales quantity.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43200"/>
            <a:ext cx="36118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9864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9AFB0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85292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Arial" panose="020B0604020202020204"/>
              </a:defRPr>
            </a:pPr>
            <a:r>
              <a:t>RESTOCK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3218688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5F5F5F"/>
                </a:solidFill>
                <a:latin typeface="Arial" panose="020B0604020202020204"/>
              </a:defRPr>
            </a:pPr>
            <a:r>
              <a:t>Add inventory when stock is replenished.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743200"/>
            <a:ext cx="36118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89864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9AFB0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79" y="285292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Arial" panose="020B0604020202020204"/>
              </a:defRPr>
            </a:pPr>
            <a:r>
              <a:t>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79" y="3218688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5F5F5F"/>
                </a:solidFill>
                <a:latin typeface="Arial" panose="020B0604020202020204"/>
              </a:defRPr>
            </a:pPr>
            <a:r>
              <a:t>Detect items at or below reorder level.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97680"/>
            <a:ext cx="36118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5312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9AFB0"/>
                </a:solidFill>
                <a:latin typeface="Arial" panose="020B0604020202020204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440740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Arial" panose="020B0604020202020204"/>
              </a:defRPr>
            </a:pPr>
            <a:r>
              <a:t>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4773168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5F5F5F"/>
                </a:solidFill>
                <a:latin typeface="Arial" panose="020B0604020202020204"/>
              </a:defRPr>
            </a:pPr>
            <a:r>
              <a:t>Show stock, sold quantity and total sales.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4297680"/>
            <a:ext cx="36118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445312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9AFB0"/>
                </a:solidFill>
                <a:latin typeface="Arial" panose="020B0604020202020204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79" y="440740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Arial" panose="020B0604020202020204"/>
              </a:defRPr>
            </a:pPr>
            <a:r>
              <a:t>LEARN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79" y="4773168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5F5F5F"/>
                </a:solidFill>
                <a:latin typeface="Arial" panose="020B0604020202020204"/>
              </a:defRPr>
            </a:pPr>
            <a:r>
              <a:t>Apply Python lists, loops &amp;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8404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191919"/>
                </a:solidFill>
                <a:latin typeface="Arial" panose="020B0604020202020204"/>
              </a:defRPr>
            </a:pPr>
            <a:r>
              <a:t>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143000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124712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rPr sz="1500"/>
              <a:t>Create arrays for items, stock, sales, price and reorder levels.</a:t>
            </a:r>
            <a:endParaRPr sz="1500"/>
          </a:p>
        </p:txBody>
      </p:sp>
      <p:sp>
        <p:nvSpPr>
          <p:cNvPr id="7" name="Oval 6"/>
          <p:cNvSpPr/>
          <p:nvPr/>
        </p:nvSpPr>
        <p:spPr>
          <a:xfrm>
            <a:off x="685800" y="1709928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rPr sz="1500"/>
              <a:t>Display the inventory menu to the user.</a:t>
            </a:r>
            <a:endParaRPr sz="1500"/>
          </a:p>
        </p:txBody>
      </p:sp>
      <p:sp>
        <p:nvSpPr>
          <p:cNvPr id="9" name="Oval 8"/>
          <p:cNvSpPr/>
          <p:nvPr/>
        </p:nvSpPr>
        <p:spPr>
          <a:xfrm>
            <a:off x="685800" y="2276856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58568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rPr sz="1500"/>
              <a:t>Read the user's menu choice.</a:t>
            </a:r>
            <a:endParaRPr sz="1500"/>
          </a:p>
        </p:txBody>
      </p:sp>
      <p:sp>
        <p:nvSpPr>
          <p:cNvPr id="11" name="Oval 10"/>
          <p:cNvSpPr/>
          <p:nvPr/>
        </p:nvSpPr>
        <p:spPr>
          <a:xfrm>
            <a:off x="685800" y="2843784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825496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rPr sz="1500"/>
              <a:t>For Sell Item, check stock and update stock + sales.</a:t>
            </a:r>
            <a:endParaRPr sz="1500"/>
          </a:p>
        </p:txBody>
      </p:sp>
      <p:sp>
        <p:nvSpPr>
          <p:cNvPr id="13" name="Oval 12"/>
          <p:cNvSpPr/>
          <p:nvPr/>
        </p:nvSpPr>
        <p:spPr>
          <a:xfrm>
            <a:off x="685800" y="3410712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392424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rPr sz="1500"/>
              <a:t>For Restock Item, add the entered quantity to stock.</a:t>
            </a:r>
            <a:endParaRPr sz="1500"/>
          </a:p>
        </p:txBody>
      </p:sp>
      <p:sp>
        <p:nvSpPr>
          <p:cNvPr id="15" name="Oval 14"/>
          <p:cNvSpPr/>
          <p:nvPr/>
        </p:nvSpPr>
        <p:spPr>
          <a:xfrm>
            <a:off x="685800" y="3977640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959352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rPr sz="1500"/>
              <a:t>Compare stock with reorder level and show alerts.</a:t>
            </a:r>
            <a:endParaRPr sz="1500"/>
          </a:p>
        </p:txBody>
      </p:sp>
      <p:sp>
        <p:nvSpPr>
          <p:cNvPr id="17" name="Oval 16"/>
          <p:cNvSpPr/>
          <p:nvPr/>
        </p:nvSpPr>
        <p:spPr>
          <a:xfrm>
            <a:off x="685800" y="4544568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2628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rPr sz="1500"/>
              <a:t>Generate item-wise sales and stock summary.</a:t>
            </a:r>
            <a:endParaRPr sz="1500"/>
          </a:p>
        </p:txBody>
      </p:sp>
      <p:sp>
        <p:nvSpPr>
          <p:cNvPr id="19" name="Oval 18"/>
          <p:cNvSpPr/>
          <p:nvPr/>
        </p:nvSpPr>
        <p:spPr>
          <a:xfrm>
            <a:off x="685800" y="5111496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093208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rPr sz="1500"/>
              <a:t>Repeat until the user selects Exit.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8404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191919"/>
                </a:solidFill>
                <a:latin typeface="Arial" panose="020B0604020202020204"/>
              </a:defRPr>
            </a:pPr>
            <a:r>
              <a:t>Flowchart / 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051560"/>
            <a:ext cx="2286000" cy="502920"/>
          </a:xfrm>
          <a:prstGeom prst="roundRect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1783080"/>
            <a:ext cx="2834640" cy="566928"/>
          </a:xfrm>
          <a:prstGeom prst="roundRect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Create inventory arrays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2606040"/>
            <a:ext cx="3017520" cy="566928"/>
          </a:xfrm>
          <a:prstGeom prst="roundRect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Display menu &amp; read choice</a:t>
            </a:r>
          </a:p>
        </p:txBody>
      </p:sp>
      <p:sp>
        <p:nvSpPr>
          <p:cNvPr id="8" name="Diamond 7"/>
          <p:cNvSpPr/>
          <p:nvPr/>
        </p:nvSpPr>
        <p:spPr>
          <a:xfrm>
            <a:off x="2788920" y="3429000"/>
            <a:ext cx="3566160" cy="777240"/>
          </a:xfrm>
          <a:prstGeom prst="diamond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Menu choice?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3429000"/>
            <a:ext cx="1965960" cy="777240"/>
          </a:xfrm>
          <a:prstGeom prst="roundRect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Sell / Restock</a:t>
            </a:r>
          </a:p>
        </p:txBody>
      </p:sp>
      <p:sp>
        <p:nvSpPr>
          <p:cNvPr id="10" name="Diamond 9"/>
          <p:cNvSpPr/>
          <p:nvPr/>
        </p:nvSpPr>
        <p:spPr>
          <a:xfrm>
            <a:off x="685800" y="4526280"/>
            <a:ext cx="1965960" cy="777240"/>
          </a:xfrm>
          <a:prstGeom prst="diamond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Stock Alert / Summary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526280"/>
            <a:ext cx="2011680" cy="777240"/>
          </a:xfrm>
          <a:prstGeom prst="roundRect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Process selected operation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4526280"/>
            <a:ext cx="1965960" cy="777240"/>
          </a:xfrm>
          <a:prstGeom prst="roundRect">
            <a:avLst/>
          </a:prstGeom>
          <a:solidFill>
            <a:srgbClr val="FCEBEB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Invalid choice → Message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5623560"/>
            <a:ext cx="2011680" cy="594360"/>
          </a:xfrm>
          <a:prstGeom prst="roundRect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Continue?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5623560"/>
            <a:ext cx="1874519" cy="594360"/>
          </a:xfrm>
          <a:prstGeom prst="roundRect">
            <a:avLst/>
          </a:prstGeom>
          <a:solidFill>
            <a:srgbClr val="E9F7EE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Exit → END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" y="1554480"/>
            <a:ext cx="0" cy="22860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2350008"/>
            <a:ext cx="0" cy="256032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3172968"/>
            <a:ext cx="0" cy="256032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355080" y="3822191"/>
            <a:ext cx="18288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257800" y="4206240"/>
            <a:ext cx="1280160" cy="50292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691640" y="3822191"/>
            <a:ext cx="1097280" cy="704089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651760" y="4919472"/>
            <a:ext cx="59436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57800" y="4919472"/>
            <a:ext cx="64008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51960" y="5303520"/>
            <a:ext cx="0" cy="32004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257800" y="5916168"/>
            <a:ext cx="73152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20840" y="4224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68C55"/>
                </a:solidFill>
                <a:latin typeface="Arial" panose="020B0604020202020204"/>
              </a:defRPr>
            </a:pPr>
            <a:r>
              <a:t>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160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68C55"/>
                </a:solidFill>
                <a:latin typeface="Arial" panose="020B0604020202020204"/>
              </a:defRPr>
            </a:pPr>
            <a:r>
              <a:t>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808" y="5468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E4141"/>
                </a:solidFill>
                <a:latin typeface="Arial" panose="020B0604020202020204"/>
              </a:defRPr>
            </a:pPr>
            <a: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1808" y="59893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68C55"/>
                </a:solidFill>
                <a:latin typeface="Arial" panose="020B0604020202020204"/>
              </a:defRPr>
            </a:pPr>
            <a:r>
              <a:t>YES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8404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191919"/>
                </a:solidFill>
                <a:latin typeface="Arial" panose="020B0604020202020204"/>
              </a:defRPr>
            </a:pPr>
            <a:r>
              <a:t>Understanding of Python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70432"/>
            <a:ext cx="2240280" cy="621792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9304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Consolas" panose="020B0609020204030204"/>
              </a:defRPr>
            </a:pPr>
            <a:r>
              <a:t>items = [...]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243584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Stores product names in a list.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2240280" cy="621792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Consolas" panose="020B0609020204030204"/>
              </a:defRPr>
            </a:pPr>
            <a:r>
              <a:t>stock = [...]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993392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Stores current quantity available for each item.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70048"/>
            <a:ext cx="2240280" cy="621792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Consolas" panose="020B0609020204030204"/>
              </a:defRPr>
            </a:pPr>
            <a:r>
              <a:t>sales = [0, 0, ...]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743200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Tracks how many units have been sold.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19856"/>
            <a:ext cx="2240280" cy="621792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38727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Consolas" panose="020B0609020204030204"/>
              </a:defRPr>
            </a:pPr>
            <a:r>
              <a:t>stock[i] -= quantity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493008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Reduces stock after a successful sale.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69663"/>
            <a:ext cx="2240280" cy="621792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88536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Consolas" panose="020B0609020204030204"/>
              </a:defRPr>
            </a:pPr>
            <a:r>
              <a:t>stock[i] += quantity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242816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Increases stock during restocking.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919472"/>
            <a:ext cx="2240280" cy="621792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38344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Consolas" panose="020B0609020204030204"/>
              </a:defRPr>
            </a:pPr>
            <a:r>
              <a:t>stock[i] &lt;= reorder[i]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992624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Compares current stock with the reorder threshold.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8404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191919"/>
                </a:solidFill>
                <a:latin typeface="Arial" panose="020B0604020202020204"/>
              </a:defRPr>
            </a:pPr>
            <a:r>
              <a:t>Python Code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887095"/>
            <a:ext cx="8138160" cy="539496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087" y="995680"/>
            <a:ext cx="7726680" cy="5169535"/>
          </a:xfrm>
          <a:prstGeom prst="rect">
            <a:avLst/>
          </a:prstGeom>
          <a:noFill/>
        </p:spPr>
        <p:txBody>
          <a:bodyPr wrap="none" numCol="2">
            <a:spAutoFit/>
          </a:bodyPr>
          <a:lstStyle/>
          <a:p>
            <a:pPr>
              <a:defRPr sz="1130">
                <a:solidFill>
                  <a:srgbClr val="191919"/>
                </a:solidFill>
                <a:latin typeface="Consolas" panose="020B0609020204030204"/>
              </a:defRPr>
            </a:pPr>
            <a:r>
              <a:rPr sz="1000"/>
              <a:t># Inventory Stock Analysis System
items = ["Laptop", "Mouse", "Keyboard", "Monitor", "Printer"]
stock = [15, 50, 30, 10, 8]
sales = [0, 0, 0, 0, 0]
price = [55000, 800, 1500, 12000, 9000]
reorder = [5, 10, 8, 3, 2]
while True:
    print("\n===== INVENTORY SYSTEM =====")
    print("1. Show Inventory")
    print("2. Sell Item")
    print("3. Restock Item")
    print("4. Stock Alert")
    print("5. Item Summary")
    print("6. Exit")
    choice = int(input("Enter your choice: "))
    if choice == 1:
        print("\nItem\t\tStock\tSold\tPrice")
        for i in range(5):
            print(items[i], "\t", stock[i], "\t", sales[i], "\t", price[i])
    elif choice == 2:
        for i in range(5):
            print(i + 1, ".", items[i])
        item = int(input("Enter item number: ")) - 1
        quantity = int(input("Enter quantity sold: "))
        if quantity &lt;= stock[item]:
            stock[item] -= quantity
            sales[item] += quantity
            print("Item sold successfully!")
        else:
            print("Not enough stock!")
    elif choice == 3:
        for i in range(5):
            print(i + 1, ".", items[i])
        item = int(input("Enter item number: ")) - 1
        quantity = int(input("Enter quantity to add: "))
        stock[item] += quantity
        print("Item restocked successfully!")
    elif choice == 4:
        for i in range(5):
            if stock[i] &lt;= reorder[i]:
                print(items[i], "needs restocking!")
            else:
                print(items[i], "stock is OK.")
    elif choice == 5:
        for i in range(5):
            total = sales[i] * price[i]
            print(items[i], stock[i], sales[i], total)
    elif choice == 6:
        print("Thank you!")
        break
    else:
        print("Invalid choice!")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8404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191919"/>
                </a:solidFill>
                <a:latin typeface="Arial" panose="020B0604020202020204"/>
              </a:defRPr>
            </a:pPr>
            <a:r>
              <a:t>Sample Input / Output &amp; Stack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3794760" cy="658368"/>
          </a:xfrm>
          <a:prstGeom prst="roundRect">
            <a:avLst/>
          </a:prstGeom>
          <a:solidFill>
            <a:srgbClr val="F5F8F8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930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19"/>
                </a:solidFill>
                <a:latin typeface="Consolas" panose="020B0609020204030204"/>
              </a:defRPr>
            </a:pPr>
            <a:r>
              <a:t>1 → Show Inventory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143000"/>
            <a:ext cx="3566160" cy="658368"/>
          </a:xfrm>
          <a:prstGeom prst="roundRect">
            <a:avLst/>
          </a:prstGeom>
          <a:solidFill>
            <a:srgbClr val="368C55"/>
          </a:solidFill>
          <a:ln w="15240">
            <a:solidFill>
              <a:srgbClr val="368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28930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Laptop: 15 | Mouse: 50 | Keyboard: 30 | Monitor: 10 | Printer: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3794760" cy="658368"/>
          </a:xfrm>
          <a:prstGeom prst="roundRect">
            <a:avLst/>
          </a:prstGeom>
          <a:solidFill>
            <a:srgbClr val="F5F8F8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1226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19"/>
                </a:solidFill>
                <a:latin typeface="Consolas" panose="020B0609020204030204"/>
              </a:defRPr>
            </a:pPr>
            <a:r>
              <a:t>2 → Sell Item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965960"/>
            <a:ext cx="3566160" cy="658368"/>
          </a:xfrm>
          <a:prstGeom prst="roundRect">
            <a:avLst/>
          </a:prstGeom>
          <a:solidFill>
            <a:srgbClr val="BE4141"/>
          </a:solidFill>
          <a:ln w="1524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1122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Sell 3 Laptops → Laptop stock becomes 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88920"/>
            <a:ext cx="3794760" cy="658368"/>
          </a:xfrm>
          <a:prstGeom prst="roundRect">
            <a:avLst/>
          </a:prstGeom>
          <a:solidFill>
            <a:srgbClr val="F5F8F8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3522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19"/>
                </a:solidFill>
                <a:latin typeface="Consolas" panose="020B0609020204030204"/>
              </a:defRPr>
            </a:pPr>
            <a:r>
              <a:t>3 → Restock Item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2788920"/>
            <a:ext cx="3566160" cy="658368"/>
          </a:xfrm>
          <a:prstGeom prst="roundRect">
            <a:avLst/>
          </a:prstGeom>
          <a:solidFill>
            <a:srgbClr val="368C55"/>
          </a:solidFill>
          <a:ln w="15240">
            <a:solidFill>
              <a:srgbClr val="368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9352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Add 5 Printers → Printer stock becomes 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79"/>
            <a:ext cx="3794760" cy="658368"/>
          </a:xfrm>
          <a:prstGeom prst="roundRect">
            <a:avLst/>
          </a:prstGeom>
          <a:solidFill>
            <a:srgbClr val="F5F8F8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58183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19"/>
                </a:solidFill>
                <a:latin typeface="Consolas" panose="020B0609020204030204"/>
              </a:defRPr>
            </a:pPr>
            <a:r>
              <a:t>4 → Stock Alert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3611879"/>
            <a:ext cx="3566160" cy="658368"/>
          </a:xfrm>
          <a:prstGeom prst="roundRect">
            <a:avLst/>
          </a:prstGeom>
          <a:solidFill>
            <a:srgbClr val="BE4141"/>
          </a:solidFill>
          <a:ln w="1524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375818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Items at/below reorder level are flagged.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91919"/>
                </a:solidFill>
                <a:latin typeface="Arial" panose="020B0604020202020204"/>
              </a:defRPr>
            </a:pPr>
            <a:r>
              <a:t>Example of stock update flow: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5257800"/>
            <a:ext cx="685800" cy="502920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5838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Consolas" panose="020B0609020204030204"/>
              </a:defRPr>
            </a:pPr>
            <a:r>
              <a:rPr sz="800" b="1"/>
              <a:t>Laptop</a:t>
            </a:r>
            <a:endParaRPr sz="800" b="1"/>
          </a:p>
        </p:txBody>
      </p:sp>
      <p:cxnSp>
        <p:nvCxnSpPr>
          <p:cNvPr id="24" name="Connector 23"/>
          <p:cNvCxnSpPr/>
          <p:nvPr/>
        </p:nvCxnSpPr>
        <p:spPr>
          <a:xfrm>
            <a:off x="1764792" y="5504688"/>
            <a:ext cx="228599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194560" y="5257800"/>
            <a:ext cx="685800" cy="502920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535838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Consolas" panose="020B0609020204030204"/>
              </a:defRPr>
            </a:pPr>
            <a:r>
              <a:rPr sz="800" b="1"/>
              <a:t>Sell 3</a:t>
            </a:r>
            <a:endParaRPr sz="800" b="1"/>
          </a:p>
        </p:txBody>
      </p:sp>
      <p:cxnSp>
        <p:nvCxnSpPr>
          <p:cNvPr id="27" name="Connector 26"/>
          <p:cNvCxnSpPr/>
          <p:nvPr/>
        </p:nvCxnSpPr>
        <p:spPr>
          <a:xfrm>
            <a:off x="2907791" y="5504688"/>
            <a:ext cx="22860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337560" y="5257800"/>
            <a:ext cx="685800" cy="502920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535838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Consolas" panose="020B0609020204030204"/>
              </a:defRPr>
            </a:pPr>
            <a:r>
              <a:rPr sz="800" b="1"/>
              <a:t>Stock 15</a:t>
            </a:r>
            <a:endParaRPr sz="800" b="1"/>
          </a:p>
        </p:txBody>
      </p:sp>
      <p:cxnSp>
        <p:nvCxnSpPr>
          <p:cNvPr id="30" name="Connector 29"/>
          <p:cNvCxnSpPr/>
          <p:nvPr/>
        </p:nvCxnSpPr>
        <p:spPr>
          <a:xfrm>
            <a:off x="4050791" y="5504688"/>
            <a:ext cx="228601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480560" y="5257800"/>
            <a:ext cx="685800" cy="502920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535838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Consolas" panose="020B0609020204030204"/>
              </a:defRPr>
            </a:pPr>
            <a:r>
              <a:rPr sz="800" b="1"/>
              <a:t>− 3</a:t>
            </a:r>
            <a:endParaRPr sz="800" b="1"/>
          </a:p>
        </p:txBody>
      </p:sp>
      <p:cxnSp>
        <p:nvCxnSpPr>
          <p:cNvPr id="33" name="Connector 32"/>
          <p:cNvCxnSpPr/>
          <p:nvPr/>
        </p:nvCxnSpPr>
        <p:spPr>
          <a:xfrm>
            <a:off x="5193792" y="5504688"/>
            <a:ext cx="22860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623560" y="5257800"/>
            <a:ext cx="685800" cy="502920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3560" y="535838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Consolas" panose="020B0609020204030204"/>
              </a:defRPr>
            </a:pPr>
            <a:r>
              <a:rPr sz="800" b="1"/>
              <a:t>Stock 12</a:t>
            </a:r>
            <a:endParaRPr sz="800" b="1"/>
          </a:p>
        </p:txBody>
      </p:sp>
      <p:cxnSp>
        <p:nvCxnSpPr>
          <p:cNvPr id="36" name="Connector 35"/>
          <p:cNvCxnSpPr/>
          <p:nvPr/>
        </p:nvCxnSpPr>
        <p:spPr>
          <a:xfrm>
            <a:off x="6336792" y="5504688"/>
            <a:ext cx="22860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766560" y="5257800"/>
            <a:ext cx="685800" cy="502920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535838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Consolas" panose="020B0609020204030204"/>
              </a:defRPr>
            </a:pPr>
            <a:r>
              <a:rPr sz="800" b="1"/>
              <a:t>Updated</a:t>
            </a:r>
            <a:endParaRPr sz="8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8404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191919"/>
                </a:solidFill>
                <a:latin typeface="Arial" panose="020B0604020202020204"/>
              </a:defRPr>
            </a:pPr>
            <a:r>
              <a:t>Test Results &amp; Complexity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1919"/>
                </a:solidFill>
                <a:latin typeface="Arial" panose="020B0604020202020204"/>
              </a:defRPr>
            </a:pPr>
            <a:r>
              <a:t>Initial Stock Levels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95985" y="4909185"/>
            <a:ext cx="333756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600200" y="1901825"/>
            <a:ext cx="0" cy="2715895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00200" y="525780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1919"/>
                </a:solidFill>
                <a:latin typeface="Arial" panose="020B0604020202020204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063240" y="525780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1919"/>
                </a:solidFill>
                <a:latin typeface="Arial" panose="020B0604020202020204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828800" y="245059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68C55"/>
                </a:solidFill>
                <a:latin typeface="Arial" panose="020B0604020202020204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337560" y="245059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BE4141"/>
                </a:solidFill>
                <a:latin typeface="Arial" panose="020B0604020202020204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983480" y="1143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1919"/>
                </a:solidFill>
                <a:latin typeface="Arial" panose="020B0604020202020204"/>
              </a:defRPr>
            </a:pPr>
            <a:r>
              <a:t>Complexity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645920"/>
            <a:ext cx="3200400" cy="1234440"/>
          </a:xfrm>
          <a:prstGeom prst="roundRect">
            <a:avLst/>
          </a:prstGeom>
          <a:solidFill>
            <a:srgbClr val="F4F8F8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72846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Arial" panose="020B0604020202020204"/>
              </a:defRPr>
            </a:pPr>
            <a:r>
              <a:t>Time Complexity: O(1) per menu operation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331847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5A5A"/>
                </a:solidFill>
                <a:latin typeface="Arial" panose="020B0604020202020204"/>
              </a:defRPr>
            </a:pPr>
            <a:r>
              <a:t>Each selected operation processes a fixed 5-item list.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3154680"/>
            <a:ext cx="3200400" cy="1234440"/>
          </a:xfrm>
          <a:prstGeom prst="roundRect">
            <a:avLst/>
          </a:prstGeom>
          <a:solidFill>
            <a:srgbClr val="F4F8F8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33832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Arial" panose="020B0604020202020204"/>
              </a:defRPr>
            </a:pPr>
            <a:r>
              <a:t>Space Complexity: O(n)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77647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5A5A"/>
                </a:solidFill>
                <a:latin typeface="Arial" panose="020B0604020202020204"/>
              </a:defRPr>
            </a:pPr>
            <a:r>
              <a:t>Arrays store item, stock, sales, price and reorder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4617720"/>
            <a:ext cx="3200400" cy="1143000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4800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19"/>
                </a:solidFill>
                <a:latin typeface="Arial" panose="020B0604020202020204"/>
              </a:defRPr>
            </a:pPr>
            <a:r>
              <a:t>Core Concept: Arrays / Lists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5349367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5A5A"/>
                </a:solidFill>
                <a:latin typeface="Arial" panose="020B0604020202020204"/>
              </a:defRPr>
            </a:pPr>
            <a:r>
              <a:t>Index-based parallel lists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5985" y="4612640"/>
            <a:ext cx="3749039" cy="18288"/>
          </a:xfrm>
          <a:prstGeom prst="rect">
            <a:avLst/>
          </a:prstGeom>
          <a:solidFill>
            <a:srgbClr val="50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1783080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Laptop</a:t>
            </a:r>
            <a:endParaRPr sz="1100"/>
          </a:p>
        </p:txBody>
      </p:sp>
      <p:sp>
        <p:nvSpPr>
          <p:cNvPr id="26" name="Rectangle 25"/>
          <p:cNvSpPr/>
          <p:nvPr/>
        </p:nvSpPr>
        <p:spPr>
          <a:xfrm>
            <a:off x="1783080" y="1810512"/>
            <a:ext cx="726948" cy="256032"/>
          </a:xfrm>
          <a:prstGeom prst="rect">
            <a:avLst/>
          </a:prstGeom>
          <a:solidFill>
            <a:srgbClr val="37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37460" y="1783080"/>
            <a:ext cx="411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15</a:t>
            </a:r>
            <a:endParaRPr sz="1000" b="1"/>
          </a:p>
        </p:txBody>
      </p:sp>
      <p:sp>
        <p:nvSpPr>
          <p:cNvPr id="28" name="TextBox 27"/>
          <p:cNvSpPr txBox="1"/>
          <p:nvPr/>
        </p:nvSpPr>
        <p:spPr>
          <a:xfrm>
            <a:off x="822960" y="2350008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Mouse</a:t>
            </a:r>
            <a:endParaRPr sz="1100"/>
          </a:p>
        </p:txBody>
      </p:sp>
      <p:sp>
        <p:nvSpPr>
          <p:cNvPr id="29" name="Rectangle 28"/>
          <p:cNvSpPr/>
          <p:nvPr/>
        </p:nvSpPr>
        <p:spPr>
          <a:xfrm>
            <a:off x="1783080" y="2377439"/>
            <a:ext cx="2423160" cy="256032"/>
          </a:xfrm>
          <a:prstGeom prst="rect">
            <a:avLst/>
          </a:prstGeom>
          <a:solidFill>
            <a:srgbClr val="37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33672" y="2350008"/>
            <a:ext cx="411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50</a:t>
            </a:r>
            <a:endParaRPr sz="1000" b="1"/>
          </a:p>
        </p:txBody>
      </p:sp>
      <p:sp>
        <p:nvSpPr>
          <p:cNvPr id="31" name="TextBox 30"/>
          <p:cNvSpPr txBox="1"/>
          <p:nvPr/>
        </p:nvSpPr>
        <p:spPr>
          <a:xfrm>
            <a:off x="822960" y="2916936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Keyboard</a:t>
            </a:r>
            <a:endParaRPr sz="1100"/>
          </a:p>
        </p:txBody>
      </p:sp>
      <p:sp>
        <p:nvSpPr>
          <p:cNvPr id="32" name="Rectangle 31"/>
          <p:cNvSpPr/>
          <p:nvPr/>
        </p:nvSpPr>
        <p:spPr>
          <a:xfrm>
            <a:off x="1783080" y="2944368"/>
            <a:ext cx="1453896" cy="256032"/>
          </a:xfrm>
          <a:prstGeom prst="rect">
            <a:avLst/>
          </a:prstGeom>
          <a:solidFill>
            <a:srgbClr val="37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64408" y="2916936"/>
            <a:ext cx="411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30</a:t>
            </a:r>
            <a:endParaRPr sz="1000" b="1"/>
          </a:p>
        </p:txBody>
      </p:sp>
      <p:sp>
        <p:nvSpPr>
          <p:cNvPr id="34" name="TextBox 33"/>
          <p:cNvSpPr txBox="1"/>
          <p:nvPr/>
        </p:nvSpPr>
        <p:spPr>
          <a:xfrm>
            <a:off x="822960" y="3483863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Monitor</a:t>
            </a:r>
            <a:endParaRPr sz="1100"/>
          </a:p>
        </p:txBody>
      </p:sp>
      <p:sp>
        <p:nvSpPr>
          <p:cNvPr id="35" name="Rectangle 34"/>
          <p:cNvSpPr/>
          <p:nvPr/>
        </p:nvSpPr>
        <p:spPr>
          <a:xfrm>
            <a:off x="1783080" y="3511295"/>
            <a:ext cx="484632" cy="256032"/>
          </a:xfrm>
          <a:prstGeom prst="rect">
            <a:avLst/>
          </a:prstGeom>
          <a:solidFill>
            <a:srgbClr val="37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95144" y="3483863"/>
            <a:ext cx="411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10</a:t>
            </a:r>
            <a:endParaRPr sz="1000" b="1"/>
          </a:p>
        </p:txBody>
      </p:sp>
      <p:sp>
        <p:nvSpPr>
          <p:cNvPr id="37" name="TextBox 36"/>
          <p:cNvSpPr txBox="1"/>
          <p:nvPr/>
        </p:nvSpPr>
        <p:spPr>
          <a:xfrm>
            <a:off x="822960" y="4050791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Printer</a:t>
            </a:r>
            <a:endParaRPr sz="1100"/>
          </a:p>
        </p:txBody>
      </p:sp>
      <p:sp>
        <p:nvSpPr>
          <p:cNvPr id="38" name="Rectangle 37"/>
          <p:cNvSpPr/>
          <p:nvPr/>
        </p:nvSpPr>
        <p:spPr>
          <a:xfrm>
            <a:off x="1783080" y="4078224"/>
            <a:ext cx="387705" cy="256032"/>
          </a:xfrm>
          <a:prstGeom prst="rect">
            <a:avLst/>
          </a:prstGeom>
          <a:solidFill>
            <a:srgbClr val="37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8217" y="4050791"/>
            <a:ext cx="411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8</a:t>
            </a:r>
            <a:endParaRPr sz="1000" b="1"/>
          </a:p>
        </p:txBody>
      </p:sp>
      <p:sp>
        <p:nvSpPr>
          <p:cNvPr id="40" name="TextBox 39"/>
          <p:cNvSpPr txBox="1"/>
          <p:nvPr/>
        </p:nvSpPr>
        <p:spPr>
          <a:xfrm>
            <a:off x="895985" y="461772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Graph: starting quantity available for each item.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7863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Arial" panose="020B0604020202020204"/>
              </a:defRPr>
            </a:pPr>
            <a:r>
              <a:t>GitHub, Repository &amp; Individual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78865"/>
            <a:ext cx="7955280" cy="1006475"/>
          </a:xfrm>
          <a:prstGeom prst="roundRect">
            <a:avLst/>
          </a:prstGeom>
          <a:solidFill>
            <a:srgbClr val="EEF4F4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361188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89AFB0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24328"/>
            <a:ext cx="2651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Arial" panose="020B0604020202020204"/>
              </a:defRPr>
            </a:pPr>
            <a:r>
              <a:t>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53512"/>
            <a:ext cx="2651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5F5F"/>
                </a:solidFill>
                <a:latin typeface="Arial" panose="020B0604020202020204"/>
              </a:defRPr>
            </a:pPr>
            <a:r>
              <a:t>Inventory project repository created on GitHub.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514600"/>
            <a:ext cx="361188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65176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89AFB0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9" y="2624328"/>
            <a:ext cx="2651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Arial" panose="020B0604020202020204"/>
              </a:defRPr>
            </a:pPr>
            <a:r>
              <a:t>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2953512"/>
            <a:ext cx="2651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5F5F"/>
                </a:solidFill>
                <a:latin typeface="Arial" panose="020B0604020202020204"/>
              </a:defRPr>
            </a:pPr>
            <a:r>
              <a:t>Python inventory program uploaded.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361188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89AFB0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95928"/>
            <a:ext cx="2651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Arial" panose="020B0604020202020204"/>
              </a:defRPr>
            </a:pPr>
            <a:r>
              <a:t>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325112"/>
            <a:ext cx="2651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5F5F"/>
                </a:solidFill>
                <a:latin typeface="Arial" panose="020B0604020202020204"/>
              </a:defRPr>
            </a:pPr>
            <a:r>
              <a:t>Menu options, selling and restocking tested.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3886200"/>
            <a:ext cx="361188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402336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89AFB0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59" y="3995928"/>
            <a:ext cx="2651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Arial" panose="020B0604020202020204"/>
              </a:defRPr>
            </a:pPr>
            <a:r>
              <a:t>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59" y="4325112"/>
            <a:ext cx="2651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5F5F"/>
                </a:solidFill>
                <a:latin typeface="Arial" panose="020B0604020202020204"/>
              </a:defRPr>
            </a:pPr>
            <a:r>
              <a:t>Problem, algorithm, flowchart and results prepared.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30368"/>
            <a:ext cx="7635240" cy="713232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358384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89AFB0"/>
                </a:solidFill>
                <a:latin typeface="Arial" panose="020B0604020202020204"/>
              </a:defRPr>
            </a:pPr>
            <a:r>
              <a:t>KEY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5321808"/>
            <a:ext cx="5440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Consolas" panose="020B0609020204030204"/>
              </a:defRPr>
            </a:pPr>
            <a:r>
              <a:t>“Build inventory arrays” • “Add stock alerts” • “Test item summary”</a:t>
            </a:r>
          </a:p>
        </p:txBody>
      </p:sp>
      <p:sp>
        <p:nvSpPr>
          <p:cNvPr id="28" name="Text Box 27"/>
          <p:cNvSpPr txBox="1"/>
          <p:nvPr/>
        </p:nvSpPr>
        <p:spPr>
          <a:xfrm>
            <a:off x="998220" y="1256030"/>
            <a:ext cx="6865620" cy="764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en-US"/>
              <a:t>User</a:t>
            </a:r>
            <a:r>
              <a:t>:- Vishesh Shrikhande
Project Topic :- Inventory Stock Analysis System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5490</Words>
  <Application>WPS Presentation</Application>
  <PresentationFormat>On-screen Show (4:3)</PresentationFormat>
  <Paragraphs>312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Arial</vt:lpstr>
      <vt:lpstr>Aptos</vt:lpstr>
      <vt:lpstr>Segoe UI</vt:lpstr>
      <vt:lpstr>Consolas</vt:lpstr>
      <vt:lpstr>Calibri</vt:lpstr>
      <vt:lpstr>Microsoft YaHei</vt:lpstr>
      <vt:lpstr>Arial Unicode MS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Yash Petkar (Ritik)</cp:lastModifiedBy>
  <cp:revision>5</cp:revision>
  <dcterms:created xsi:type="dcterms:W3CDTF">2013-01-27T09:14:00Z</dcterms:created>
  <dcterms:modified xsi:type="dcterms:W3CDTF">2026-08-17T05:59:30Z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97EC2B8CE48E41EEA44B2390983D8CEE_13</vt:lpwstr>
  </property>
</Properties>
</file>